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Complexity-conditioned</a:t>
            </a:r>
            <a:r>
              <a:rPr/>
              <a:t> </a:t>
            </a:r>
            <a:r>
              <a:rPr/>
              <a:t>routing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daily</a:t>
            </a:r>
            <a:r>
              <a:rPr/>
              <a:t> </a:t>
            </a:r>
            <a:r>
              <a:rPr/>
              <a:t>rainfall–runoff</a:t>
            </a:r>
            <a:r>
              <a:rPr/>
              <a:t> </a:t>
            </a:r>
            <a:r>
              <a:rPr/>
              <a:t>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>
                <a:latin typeface="Courier"/>
              </a:rPr>
              <a:t>compare_learned_morse_hydrology_consolidation.py</a:t>
            </a:r>
            <a:r>
              <a:rPr/>
              <a:t> </a:t>
            </a:r>
            <a:r>
              <a:rPr/>
              <a:t>does</a:t>
            </a:r>
            <a:br/>
            <a:br/>
            <a:r>
              <a:rPr/>
              <a:t>Ensemble</a:t>
            </a:r>
            <a:r>
              <a:rPr/>
              <a:t> </a:t>
            </a:r>
            <a:r>
              <a:rPr/>
              <a:t>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goal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 b="1"/>
                  <a:t>Question.</a:t>
                </a:r>
                <a:r>
                  <a:rPr/>
                  <a:t> Can a light and a high-capacity runoff model be combined more robustly by routing each input window according to its local complexity?</a:t>
                </a:r>
              </a:p>
              <a:p>
                <a:pPr lvl="0" marL="0" indent="0">
                  <a:buNone/>
                </a:pPr>
                <a:r>
                  <a:rPr/>
                  <a:t>The entry point is an </a:t>
                </a:r>
                <a:r>
                  <a:rPr i="1"/>
                  <a:t>isolated boundary-consolidation experiment</a:t>
                </a:r>
                <a:r>
                  <a:rPr/>
                  <a:t>. It keeps the standard learned-Morse workflow intact and varies one extra loss weight: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=</m:t>
                      </m:r>
                      <m:r>
                        <m:rPr>
                          <m:nor/>
                          <m:sty m:val="p"/>
                          <m:scr m:val="monospace"/>
                        </m:rPr>
                        <m:t>–consolidation-weight</m:t>
                      </m:r>
                      <m:r>
                        <m:t>.</m:t>
                      </m:r>
                    </m:oMath>
                  </m:oMathPara>
                </a14:m>
              </a:p>
              <a:p>
                <a:pPr lvl="1"/>
                <a:r>
                  <a:rPr/>
                  <a:t>Forecast target: next-day specific discharge.</a:t>
                </a:r>
              </a:p>
              <a:p>
                <a:pPr lvl="1"/>
                <a:r>
                  <a:rPr/>
                  <a:t>Principle: use a soft, interpretable choice between a simple and a complex expert.</a:t>
                </a:r>
              </a:p>
              <a:p>
                <a:pPr lvl="1"/>
                <a:r>
                  <a:rPr/>
                  <a:t>Important: the accompanying paper is a methods draft; it reports </a:t>
                </a:r>
                <a:r>
                  <a:rPr b="1"/>
                  <a:t>no results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Inputs</a:t>
            </a:r>
            <a:r>
              <a:rPr/>
              <a:t> </a:t>
            </a:r>
            <a:r>
              <a:rPr/>
              <a:t>become</a:t>
            </a:r>
            <a:r>
              <a:rPr/>
              <a:t> </a:t>
            </a:r>
            <a:r>
              <a:rPr/>
              <a:t>leakage-safe</a:t>
            </a:r>
            <a:r>
              <a:rPr/>
              <a:t> </a:t>
            </a:r>
            <a:r>
              <a:rPr/>
              <a:t>hydrology</a:t>
            </a:r>
            <a:r>
              <a:rPr/>
              <a:t> </a:t>
            </a:r>
            <a:r>
              <a:rPr/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script loads one basin from either CAMELS-CH or a prepared Ukrainian daily CSV, then calls </a:t>
            </a:r>
            <a:r>
              <a:rPr>
                <a:latin typeface="Courier"/>
              </a:rPr>
              <a:t>make_hydrology_data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Why</a:t>
                      </a:r>
                      <a:r>
                        <a:rPr/>
                        <a:t> </a:t>
                      </a:r>
                      <a:r>
                        <a:rPr/>
                        <a:t>it</a:t>
                      </a:r>
                      <a:r>
                        <a:rPr/>
                        <a:t> </a:t>
                      </a:r>
                      <a:r>
                        <a:rPr/>
                        <a:t>matters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Chronological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Default</a:t>
                      </a:r>
                      <a:r>
                        <a:rPr/>
                        <a:t> </a:t>
                      </a:r>
                      <a:r>
                        <a:rPr/>
                        <a:t>60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20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20</a:t>
                      </a:r>
                      <a:r>
                        <a:rPr/>
                        <a:t> </a:t>
                      </a:r>
                      <a:r>
                        <a:rPr/>
                        <a:t>train–validation–test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Prevents</a:t>
                      </a:r>
                      <a:r>
                        <a:rPr/>
                        <a:t> </a:t>
                      </a:r>
                      <a:r>
                        <a:rPr/>
                        <a:t>future-data</a:t>
                      </a:r>
                      <a:r>
                        <a:rPr/>
                        <a:t> </a:t>
                      </a:r>
                      <a:r>
                        <a:rPr/>
                        <a:t>leakage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Forcing,</a:t>
                      </a:r>
                      <a:r>
                        <a:rPr/>
                        <a:t> </a:t>
                      </a:r>
                      <a:r>
                        <a:rPr/>
                        <a:t>prior</a:t>
                      </a:r>
                      <a:r>
                        <a:rPr/>
                        <a:t> </a:t>
                      </a:r>
                      <a:r>
                        <a:rPr/>
                        <a:t>flow,</a:t>
                      </a:r>
                      <a:r>
                        <a:rPr/>
                        <a:t> </a:t>
                      </a:r>
                      <a:r>
                        <a:rPr/>
                        <a:t>seasonal,</a:t>
                      </a:r>
                      <a:r>
                        <a:rPr/>
                        <a:t> </a:t>
                      </a:r>
                      <a:r>
                        <a:rPr/>
                        <a:t>optional</a:t>
                      </a:r>
                      <a:r>
                        <a:rPr/>
                        <a:t> </a:t>
                      </a:r>
                      <a:r>
                        <a:rPr/>
                        <a:t>land-cover</a:t>
                      </a:r>
                      <a:r>
                        <a:rPr/>
                        <a:t> </a:t>
                      </a:r>
                      <a:r>
                        <a:rPr/>
                        <a:t>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Captures</a:t>
                      </a:r>
                      <a:r>
                        <a:rPr/>
                        <a:t> </a:t>
                      </a:r>
                      <a:r>
                        <a:rPr/>
                        <a:t>forcing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Windowing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Previous</a:t>
                      </a:r>
                      <a:r>
                        <a:rPr/>
                        <a:t> </a:t>
                      </a:r>
                      <a:r>
                        <a:rPr/>
                        <a:t>30</a:t>
                      </a:r>
                      <a:r>
                        <a:rPr/>
                        <a:t> </a:t>
                      </a:r>
                      <a:r>
                        <a:rPr/>
                        <a:t>days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default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Supplies</a:t>
                      </a:r>
                      <a:r>
                        <a:rPr/>
                        <a:t> </a:t>
                      </a:r>
                      <a:r>
                        <a:rPr/>
                        <a:t>recent</a:t>
                      </a:r>
                      <a:r>
                        <a:rPr/>
                        <a:t> </a:t>
                      </a:r>
                      <a:r>
                        <a:rPr/>
                        <a:t>history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Fit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data;</a:t>
                      </a:r>
                      <a:r>
                        <a:rPr/>
                        <a:t> </a:t>
                      </a:r>
                      <a:r>
                        <a:rPr/>
                        <a:t>reuse</a:t>
                      </a:r>
                      <a:r>
                        <a:rPr/>
                        <a:t> </a:t>
                      </a:r>
                      <a:r>
                        <a:rPr/>
                        <a:t>unchanged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Prevents</a:t>
                      </a:r>
                      <a:r>
                        <a:rPr/>
                        <a:t> </a:t>
                      </a:r>
                      <a:r>
                        <a:rPr/>
                        <a:t>normalization</a:t>
                      </a:r>
                      <a:r>
                        <a:rPr/>
                        <a:t> </a:t>
                      </a:r>
                      <a:r>
                        <a:rPr/>
                        <a:t>leakage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Long</a:t>
                      </a:r>
                      <a:r>
                        <a:rPr/>
                        <a:t> </a:t>
                      </a:r>
                      <a:r>
                        <a:rPr/>
                        <a:t>score</a:t>
                      </a:r>
                      <a:r>
                        <a:rPr/>
                        <a:t> </a:t>
                      </a:r>
                      <a:r>
                        <a:rPr/>
                        <a:t>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TDA</a:t>
                      </a:r>
                      <a:r>
                        <a:rPr/>
                        <a:t> </a:t>
                      </a:r>
                      <a:r>
                        <a:rPr/>
                        <a:t>128</a:t>
                      </a:r>
                      <a:r>
                        <a:rPr/>
                        <a:t> </a:t>
                      </a:r>
                      <a:r>
                        <a:rPr/>
                        <a:t>days;</a:t>
                      </a:r>
                      <a:r>
                        <a:rPr/>
                        <a:t> </a:t>
                      </a:r>
                      <a:r>
                        <a:rPr/>
                        <a:t>Lyapunov</a:t>
                      </a:r>
                      <a:r>
                        <a:rPr/>
                        <a:t> </a:t>
                      </a:r>
                      <a:r>
                        <a:rPr/>
                        <a:t>365</a:t>
                      </a:r>
                      <a:r>
                        <a:rPr/>
                        <a:t> </a:t>
                      </a:r>
                      <a:r>
                        <a:rPr/>
                        <a:t>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Past-only</a:t>
                      </a:r>
                      <a:r>
                        <a:rPr/>
                        <a:t> </a:t>
                      </a:r>
                      <a:r>
                        <a:rPr/>
                        <a:t>dynamical</a:t>
                      </a:r>
                      <a:r>
                        <a:rPr/>
                        <a:t> </a:t>
                      </a:r>
                      <a:r>
                        <a:rPr/>
                        <a:t>scoring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Windows that span a missing day are excluded.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soft</a:t>
            </a:r>
            <a:r>
              <a:rPr/>
              <a:t> </a:t>
            </a:r>
            <a:r>
              <a:rPr/>
              <a:t>mixture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experts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past forcing / flow window x_t
            |
            +-- simple expert f_s   (RBF or Fourier)
            +-- complex expert f_c  (MLP or PINNMamba)
            `-- complexity router --&gt; complex weight w_t in [0, 1]
                                      |
                         (1 - w_t) f_s(x_t) + w_t f_c(x_t)
                                      |
                           softplus --&gt; non-negative discharge y_hat_t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=</m:t>
                      </m:r>
                      <m:r>
                        <m:rPr>
                          <m:nor/>
                          <m:sty m:val="p"/>
                        </m:rPr>
                        <m:t>softplus</m:t>
                      </m:r>
                      <m:r>
                        <m:t>​</m:t>
                      </m:r>
                      <m:d>
                        <m:dPr>
                          <m:begChr m:val="("/>
                          <m:endChr m:val=")"/>
                          <m:grow/>
                        </m:dPr>
                        <m:e>
                          <m:r>
                            <m:t>(</m:t>
                          </m:r>
                          <m:r>
                            <m:t>1</m:t>
                          </m:r>
                          <m:r>
                            <m:t>−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)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r>
                            <m:t>(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)</m:t>
                          </m:r>
                          <m:r>
                            <m:t>+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  <m:r>
                            <m:t>(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t>)</m:t>
                          </m:r>
                        </m:e>
                      </m:d>
                      <m:r>
                        <m:t>.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The comparison also includes a </a:t>
                </a:r>
                <a:r>
                  <a:rPr b="1"/>
                  <a:t>single complex expert</a:t>
                </a:r>
                <a:r>
                  <a:rPr/>
                  <a:t>, so any apparent routing benefit is judged against a capacity-matched non-routed baseline.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router</a:t>
            </a:r>
            <a:r>
              <a:rPr/>
              <a:t> </a:t>
            </a:r>
            <a:r>
              <a:rPr/>
              <a:t>decides</a:t>
            </a:r>
            <a:r>
              <a:rPr/>
              <a:t> </a:t>
            </a:r>
            <a:r>
              <a:rPr/>
              <a:t>when</a:t>
            </a:r>
            <a:r>
              <a:rPr/>
              <a:t> </a:t>
            </a:r>
            <a:r>
              <a:rPr/>
              <a:t>complexity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high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For score-based routes, the score threshold is fitted only on the training split: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=</m:t>
                      </m:r>
                      <m:r>
                        <m:t>σ</m:t>
                      </m:r>
                      <m:r>
                        <m:t>​</m:t>
                      </m:r>
                      <m:d>
                        <m:dPr>
                          <m:begChr m:val="(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t>−</m:t>
                              </m:r>
                              <m:r>
                                <m:t>τ</m:t>
                              </m:r>
                            </m:num>
                            <m:den>
                              <m:r>
                                <m:t>γ</m:t>
                              </m:r>
                              <m:r>
                                <m:t> 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m:t>IQR</m:t>
                              </m:r>
                              <m:r>
                                <m:t>(</m:t>
                              </m:r>
                              <m:r>
                                <m:t>s</m:t>
                              </m:r>
                              <m:r>
                                <m:t>)</m:t>
                              </m:r>
                            </m:den>
                          </m:f>
                        </m:e>
                      </m:d>
                      <m:r>
                        <m:t>.</m:t>
                      </m:r>
                    </m:oMath>
                  </m:oMathPara>
                </a14:m>
              </a:p>
              <a:p>
                <a:pPr lvl="1"/>
                <a14:m>
                  <m:oMath xmlns:m="http://schemas.openxmlformats.org/officeDocument/2006/math">
                    <m:r>
                      <m:t>τ</m:t>
                    </m:r>
                  </m:oMath>
                </a14:m>
                <a:r>
                  <a:rPr/>
                  <a:t>: training-score percentile (</a:t>
                </a:r>
                <a:r>
                  <a:rPr>
                    <a:latin typeface="Courier"/>
                  </a:rPr>
                  <a:t>--complexity-percentile</a:t>
                </a:r>
                <a:r>
                  <a:rPr/>
                  <a:t>, default 80).</a:t>
                </a:r>
              </a:p>
              <a:p>
                <a:pPr lvl="1"/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  <a:r>
                  <a:rPr/>
                  <a:t>: transition temperature relative to the training IQR (</a:t>
                </a:r>
                <a:r>
                  <a:rPr>
                    <a:latin typeface="Courier"/>
                  </a:rPr>
                  <a:t>--gate-temperature</a:t>
                </a:r>
                <a:r>
                  <a:rPr/>
                  <a:t>, default 0.15).</a:t>
                </a:r>
              </a:p>
              <a:p>
                <a:pPr lvl="1"/>
                <a:r>
                  <a:rPr/>
                  <a:t>The logistic gate remains soft; it does not force a hard regime label.</a:t>
                </a:r>
              </a:p>
              <a:p>
                <a:pPr lvl="0" marL="0" indent="0">
                  <a:buNone/>
                </a:pPr>
                <a:r>
                  <a:rPr/>
                  <a:t>Selectable routes: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Score</a:t>
                      </a:r>
                      <a:r>
                        <a:rPr/>
                        <a:t> </a:t>
                      </a:r>
                      <a:r>
                        <a:rPr/>
                        <a:t>source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morse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Gradient</a:t>
                      </a:r>
                      <a:r>
                        <a:rPr/>
                        <a:t> </a:t>
                      </a:r>
                      <a:r>
                        <a:rPr/>
                        <a:t>norm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hand-specified</a:t>
                      </a:r>
                      <a:r>
                        <a:rPr/>
                        <a:t> </a:t>
                      </a:r>
                      <a:r>
                        <a:rPr/>
                        <a:t>hydrological</a:t>
                      </a:r>
                      <a:r>
                        <a:rPr/>
                        <a:t> </a:t>
                      </a:r>
                      <a:r>
                        <a:rPr/>
                        <a:t>potential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learned_morse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Gradient</a:t>
                      </a:r>
                      <a:r>
                        <a:rPr/>
                        <a:t> </a:t>
                      </a:r>
                      <a:r>
                        <a:rPr/>
                        <a:t>norm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pretrained</a:t>
                      </a:r>
                      <a:r>
                        <a:rPr/>
                        <a:t> </a:t>
                      </a:r>
                      <a:r>
                        <a:rPr/>
                        <a:t>scalar</a:t>
                      </a:r>
                      <a:r>
                        <a:rPr/>
                        <a:t> </a:t>
                      </a:r>
                      <a:r>
                        <a:rPr/>
                        <a:t>potential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learned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Jointly</a:t>
                      </a:r>
                      <a:r>
                        <a:rPr/>
                        <a:t> </a:t>
                      </a:r>
                      <a:r>
                        <a:rPr/>
                        <a:t>trained</a:t>
                      </a:r>
                      <a:r>
                        <a:rPr/>
                        <a:t> </a:t>
                      </a:r>
                      <a:r>
                        <a:rPr/>
                        <a:t>neural</a:t>
                      </a:r>
                      <a:r>
                        <a:rPr/>
                        <a:t> </a:t>
                      </a:r>
                      <a:r>
                        <a:rPr/>
                        <a:t>gate;</a:t>
                      </a:r>
                      <a:r>
                        <a:rPr/>
                        <a:t> </a:t>
                      </a:r>
                      <a:r>
                        <a:rPr/>
                        <a:t>interpretability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tda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lyapunov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Optional</a:t>
                      </a:r>
                      <a:r>
                        <a:rPr/>
                        <a:t> </a:t>
                      </a:r>
                      <a:r>
                        <a:rPr/>
                        <a:t>external</a:t>
                      </a:r>
                      <a:r>
                        <a:rPr/>
                        <a:t> </a:t>
                      </a:r>
                      <a:r>
                        <a:rPr/>
                        <a:t>dynamical-complexity</a:t>
                      </a:r>
                      <a:r>
                        <a:rPr/>
                        <a:t> </a:t>
                      </a:r>
                      <a:r>
                        <a:rPr/>
                        <a:t>scores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invalid Lyapunov estimates, complex weight is set to zero; TDA and Lyapunov require optional dependencies / enough history.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Learned-Morse:</a:t>
            </a:r>
            <a:r>
              <a:rPr/>
              <a:t> </a:t>
            </a:r>
            <a:r>
              <a:rPr/>
              <a:t>learn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score</a:t>
            </a:r>
            <a:r>
              <a:rPr/>
              <a:t> </a:t>
            </a:r>
            <a:r>
              <a:rPr/>
              <a:t>tied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expert</a:t>
            </a:r>
            <a:r>
              <a:rPr/>
              <a:t> </a:t>
            </a:r>
            <a:r>
              <a:rPr/>
              <a:t>utility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>
                    <a:latin typeface="Courier"/>
                  </a:rPr>
                  <a:t>learned_morse</a:t>
                </a:r>
                <a:r>
                  <a:rPr/>
                  <a:t> is calibrated before the final routed model is trained.</a:t>
                </a:r>
              </a:p>
              <a:p>
                <a:pPr lvl="1">
                  <a:buAutoNum type="arabicPeriod"/>
                </a:pPr>
                <a:r>
                  <a:rPr b="1"/>
                  <a:t>Forward-chain the training split.</a:t>
                </a:r>
                <a:r>
                  <a:rPr/>
                  <a:t> Pilot simple and complex models are trained on each prefix, then scored on its next fold.</a:t>
                </a:r>
              </a:p>
              <a:p>
                <a:pPr lvl="1">
                  <a:buAutoNum type="arabicPeriod"/>
                </a:pPr>
                <a:r>
                  <a:rPr b="1"/>
                  <a:t>Create out-of-sample utility labels.</a:t>
                </a:r>
                <a:r>
                  <a:rPr/>
                  <a:t> Utility is the complex model’s advantage in squared error plus weighted physics-residual advantage.</a:t>
                </a:r>
              </a:p>
              <a:p>
                <a:pPr lvl="1">
                  <a:buAutoNum type="arabicPeriod"/>
                </a:pPr>
                <a:r>
                  <a:rPr b="1"/>
                  <a:t>Learn the potential.</a:t>
                </a:r>
                <a:r>
                  <a:rPr/>
                  <a:t> A small network maps window summaries—current value, mean, variation, change, and recent means—to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t>(</m:t>
                    </m:r>
                    <m:r>
                      <m:t>x</m:t>
                    </m:r>
                    <m:r>
                      <m:t>)</m:t>
                    </m:r>
                  </m:oMath>
                </a14:m>
                <a:r>
                  <a:rPr/>
                  <a:t>; pairwise ranking makes </a:t>
                </a:r>
                <a14:m>
                  <m:oMath xmlns:m="http://schemas.openxmlformats.org/officeDocument/2006/math">
                    <m:r>
                      <m:t>∥</m:t>
                    </m:r>
                    <m:r>
                      <m:t>∇</m:t>
                    </m:r>
                    <m:r>
                      <m:t>V</m:t>
                    </m:r>
                    <m:r>
                      <m:t>(</m:t>
                    </m:r>
                    <m:r>
                      <m:t>x</m:t>
                    </m:r>
                    <m:r>
                      <m:t>)</m:t>
                    </m:r>
                    <m:r>
                      <m:t>∥</m:t>
                    </m:r>
                  </m:oMath>
                </a14:m>
                <a:r>
                  <a:rPr/>
                  <a:t> increase with utility.</a:t>
                </a:r>
              </a:p>
              <a:p>
                <a:pPr lvl="1">
                  <a:buAutoNum type="arabicPeriod"/>
                </a:pPr>
                <a:r>
                  <a:rPr b="1"/>
                  <a:t>Freeze and reuse it.</a:t>
                </a:r>
                <a:r>
                  <a:rPr/>
                  <a:t> The final ensemble routes with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t>(</m:t>
                    </m:r>
                    <m:r>
                      <m:t>x</m:t>
                    </m:r>
                    <m:r>
                      <m:t>)</m:t>
                    </m:r>
                    <m:r>
                      <m:t>=</m:t>
                    </m:r>
                    <m:r>
                      <m:t>∥</m:t>
                    </m:r>
                    <m:r>
                      <m:t>∇</m:t>
                    </m:r>
                    <m:r>
                      <m:t>V</m:t>
                    </m:r>
                    <m:r>
                      <m:t>(</m:t>
                    </m:r>
                    <m:r>
                      <m:t>x</m:t>
                    </m:r>
                    <m:r>
                      <m:t>)</m:t>
                    </m:r>
                    <m:r>
                      <m:t>∥</m:t>
                    </m:r>
                  </m:oMath>
                </a14:m>
                <a:r>
                  <a:rPr/>
                  <a:t>, rather than updating the potential jointly.</a:t>
                </a:r>
              </a:p>
              <a:p>
                <a:pPr lvl="0" marL="0" indent="0">
                  <a:buNone/>
                </a:pPr>
                <a:r>
                  <a:rPr/>
                  <a:t>Calibration and transfer reports test score–utility alignment with Spearman correlation, top-20% precision, and positive utility at high versus low scores.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Boundary</a:t>
            </a:r>
            <a:r>
              <a:rPr/>
              <a:t> </a:t>
            </a:r>
            <a:r>
              <a:rPr/>
              <a:t>consolidation:</a:t>
            </a:r>
            <a:r>
              <a:rPr/>
              <a:t> </a:t>
            </a:r>
            <a:r>
              <a:rPr/>
              <a:t>agree</a:t>
            </a:r>
            <a:r>
              <a:rPr/>
              <a:t> </a:t>
            </a:r>
            <a:r>
              <a:rPr/>
              <a:t>where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gate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uncertain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The usual data, physics, and router-regularization losses are retained. This experiment adds: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f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sub>
                      </m:sSub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4</m:t>
                          </m:r>
                        </m:e>
                      </m:nary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(</m:t>
                      </m:r>
                      <m:r>
                        <m:t>1</m:t>
                      </m:r>
                      <m:r>
                        <m:t>−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)</m:t>
                      </m:r>
                      <m:r>
                        <m:t> </m:t>
                      </m:r>
                      <m:r>
                        <m:t>[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)</m:t>
                      </m:r>
                      <m:r>
                        <m:t>−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)</m:t>
                      </m:r>
                      <m:sSup>
                        <m:e>
                          <m:r>
                            <m:t>]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.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marL="0" indent="0"><a:buNone /></a:pPr><a:r><a:rPr /><a:t>Gate</a:t></a:r><a:r><a:rPr /><a:t> </a:t></a:r><a:r><a:rPr /><a:t>behavior</a:t></a:r></a:p></a:txBody><a:tcPr /></a:tc><a:tc><a:txBody><a:bodyPr /><a:lstStyle /><a:p><a:pPr lvl="0" marL="0" indent="0"><a:buNone /></a:pPr><a:r><a:rPr /><a:t>Consolidation</a:t></a:r><a:r><a:rPr /><a:t> </a:t></a:r><a:r><a:rPr /><a:t>effect</a:t></a:r></a:p></a:txBody><a:tcPr /></a:tc></a:tr><a:tr h="0"><a:tc><a:txBody><a:bodyPr /><a:lstStyle /><a:p><a:pPr lvl="0" marL="0" indent="0"><a:buNone /></a:pPr><a14:m><m:oMath xmlns:m="http://schemas.openxmlformats.org/officeDocument/2006/math"><m:sSub><m:e><m:r><m:t>w</m:t></m:r></m:e><m:sub><m:r><m:t>t</m:t></m:r></m:sub></m:sSub><m:r><m:t>≈</m:t></m:r><m:r><m:t>0</m:t></m:r></m:oMath></a14:m><a:r><a:rPr /><a:t> </a:t></a:r><a:r><a:rPr /><a:t>or</a:t></a:r><a:r><a:rPr /><a:t> </a:t></a:r><a14:m><m:oMath xmlns:m="http://schemas.openxmlformats.org/officeDocument/2006/math"><m:r><m:t>1</m:t></m:r></m:oMath></a14:m></a:p></a:txBody></a:tc><a:tc><a:txBody><a:bodyPr /><a:lstStyle /><a:p><a:pPr lvl="0" marL="0" indent="0"><a:buNone /></a:pPr><a:r><a:rPr /><a:t>Nearly</a:t></a:r><a:r><a:rPr /><a:t> </a:t></a:r><a:r><a:rPr /><a:t>zero:</a:t></a:r><a:r><a:rPr /><a:t> </a:t></a:r><a:r><a:rPr /><a:t>experts</a:t></a:r><a:r><a:rPr /><a:t> </a:t></a:r><a:r><a:rPr /><a:t>can</a:t></a:r><a:r><a:rPr /><a:t> </a:t></a:r><a:r><a:rPr /><a:t>specialize</a:t></a:r></a:p></a:txBody></a:tc></a:tr><a:tr h="0"><a:tc><a:txBody><a:bodyPr /><a:lstStyle /><a:p><a:pPr lvl="0" marL="0" indent="0"><a:buNone /></a:pPr><a14:m><m:oMath xmlns:m="http://schemas.openxmlformats.org/officeDocument/2006/math"><m:sSub><m:e><m:r><m:t>w</m:t></m:r></m:e><m:sub><m:r><m:t>t</m:t></m:r></m:sub></m:sSub><m:r><m:t>=</m:t></m:r><m:r><m:t>0.5</m:t></m:r></m:oMath></a14:m></a:p></a:txBody></a:tc><a:tc><a:txBody><a:bodyPr /><a:lstStyle /><a:p><a:pPr lvl="0" marL="0" indent="0"><a:buNone /></a:pPr><a:r><a:rPr /><a:t>Maximum:</a:t></a:r><a:r><a:rPr /><a:t> </a:t></a:r><a:r><a:rPr /><a:t>experts</a:t></a:r><a:r><a:rPr /><a:t> </a:t></a:r><a:r><a:rPr /><a:t>are</a:t></a:r><a:r><a:rPr /><a:t> </a:t></a:r><a:r><a:rPr /><a:t>encouraged</a:t></a:r><a:r><a:rPr /><a:t> </a:t></a:r><a:r><a:rPr /><a:t>to</a:t></a:r><a:r><a:rPr /><a:t> </a:t></a:r><a:r><a:rPr /><a:t>agree</a:t></a:r></a:p></a:txBody></a:tc></a:tr></a:tbl></a:graphicData></a:graphic></p:graphicFrame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The total objective is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L</m:t>
                      </m:r>
                      <m:r>
                        <m:t>=</m:t>
                      </m:r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d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h</m:t>
                          </m:r>
                          <m:r>
                            <m:rPr>
                              <m:sty m:val="p"/>
                            </m:rPr>
                            <m:t>y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s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f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c</m:t>
                          </m:r>
                          <m:r>
                            <m:rPr>
                              <m:sty m:val="p"/>
                            </m:rPr>
                            <m:t>e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sSub>
                        <m:e>
                          <m: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r</m:t>
                          </m:r>
                          <m:r>
                            <m:rPr>
                              <m:sty m:val="p"/>
                            </m:rPr>
                            <m:t>o</m:t>
                          </m:r>
                          <m:r>
                            <m:rPr>
                              <m:sty m:val="p"/>
                            </m:rPr>
                            <m:t>u</m:t>
                          </m:r>
                          <m:r>
                            <m:rPr>
                              <m:sty m:val="p"/>
                            </m:rPr>
                            <m:t>t</m:t>
                          </m:r>
                          <m:r>
                            <m:rPr>
                              <m:sty m:val="p"/>
                            </m:rPr>
                            <m:t>i</m:t>
                          </m:r>
                          <m:r>
                            <m:rPr>
                              <m:sty m:val="p"/>
                            </m:rPr>
                            <m:t>n</m:t>
                          </m:r>
                          <m:r>
                            <m:rPr>
                              <m:sty m:val="p"/>
                            </m:rPr>
                            <m:t>g</m:t>
                          </m:r>
                        </m:sub>
                      </m:sSub>
                      <m:r>
                        <m:t>+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acc>
                        <m:accPr>
                          <m:chr m:val="‾"/>
                        </m:accPr>
                        <m:e>
                          <m:r>
                            <m:t>w</m:t>
                          </m:r>
                        </m:e>
                      </m:acc>
                      <m:r>
                        <m:t>.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The key ablation is identical except </a:t>
                </a:r>
                <a:r>
                  <a:rPr>
                    <a:latin typeface="Courier"/>
                  </a:rPr>
                  <a:t>--consolidation-weight 0</a:t>
                </a:r>
                <a:r>
                  <a:rPr/>
                  <a:t>; this isolates whether boundary agreement helps rather than simply changing the rest of the pipeline.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comparison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judged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 each selected model and seed, the script trains under two input conditions and tests under two input conditions: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Clean</a:t>
                      </a:r>
                      <a:r>
                        <a:rPr/>
                        <a:t> </a:t>
                      </a:r>
                      <a:r>
                        <a:rPr/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Noisy</a:t>
                      </a:r>
                      <a:r>
                        <a:rPr/>
                        <a:t> </a:t>
                      </a:r>
                      <a:r>
                        <a:rPr/>
                        <a:t>inference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Clean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inference</a:t>
                      </a:r>
                      <a:r>
                        <a:rPr/>
                        <a:t> </a:t>
                      </a:r>
                      <a:r>
                        <a:rPr/>
                        <a:t>robustness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Noisy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cost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noise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matched-noise</a:t>
                      </a:r>
                      <a:r>
                        <a:rPr/>
                        <a:t> </a:t>
                      </a:r>
                      <a:r>
                        <a:rPr/>
                        <a:t>robustness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Noise is Gaussian in standardized units and is limited to dynamic observations: precipitation, temperature, PET, and previous discharge.</a:t>
            </a:r>
          </a:p>
          <a:p>
            <a:pPr lvl="0" marL="0" indent="0">
              <a:buNone/>
            </a:pPr>
            <a:r>
              <a:rPr/>
              <a:t>Reported per run: validation/test NSE, test KGE, RMSE (mm/day), reservoir physics error, parameter count, mean complex weight, mean complexity score, valid-score fraction, and consolidation weight.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Reproducible</a:t>
            </a:r>
            <a:r>
              <a:rPr/>
              <a:t> </a:t>
            </a:r>
            <a:r>
              <a:rPr/>
              <a:t>outputs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responsible</a:t>
            </a:r>
            <a:r>
              <a:rPr/>
              <a:t> </a:t>
            </a:r>
            <a:r>
              <a:rPr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Example invocation: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-m examples.compare_learned_morse_hydrology_consolidation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--source camels_ch --basin 2011 --simple rbf --complex mlp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--epochs 750 --consolidation-weight 0.05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--training-noise 0.1 --inference-noise 0.1</a:t>
            </a:r>
          </a:p>
          <a:p>
            <a:pPr lvl="0" marL="0" indent="0">
              <a:buNone/>
            </a:pPr>
            <a:r>
              <a:rPr/>
              <a:t>The run writes a complete JSON configuration, comparison CSV, grouped robustness plot, and—when </a:t>
            </a:r>
            <a:r>
              <a:rPr>
                <a:latin typeface="Courier"/>
              </a:rPr>
              <a:t>learned_morse</a:t>
            </a:r>
            <a:r>
              <a:rPr/>
              <a:t> is selected—calibration CSV, transfer CSV, and frozen potential weights.</a:t>
            </a:r>
          </a:p>
          <a:p>
            <a:pPr lvl="0" marL="0" indent="0">
              <a:buNone/>
            </a:pPr>
            <a:r>
              <a:rPr b="1"/>
              <a:t>Interpret results conservatively:</a:t>
            </a:r>
            <a:r>
              <a:rPr/>
              <a:t> aggregate paired comparisons across basins and seeds; examine full robustness grids and routing diagnostics; do not infer a universal physical regime or superiority from one basin, seed, or configuration.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Complexity-conditioned routing for daily rainfall–runoff prediction</dc:title>
  <dc:creator>Ensemble Review</dc:creator>
  <cp:keywords/>
  <dcterms:created xsi:type="dcterms:W3CDTF">2026-09-03T12:25:49Z</dcterms:created>
  <dcterms:modified xsi:type="dcterms:W3CDTF">2026-09-03T12:25:49Z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/>
  </property>
  <property fmtid="{D5CDD505-2E9C-101B-9397-08002B2CF9AE}" pid="4" name="subtitle">
    <vt:lpwstr>What compare_learned_morse_hydrology_consolidation.py does</vt:lpwstr>
  </property>
</Properties>
</file>